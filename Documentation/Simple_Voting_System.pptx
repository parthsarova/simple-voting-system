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9" r:id="rId9"/>
    <p:sldId id="260" r:id="rId10"/>
    <p:sldId id="261" r:id="rId11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theme" Target="theme/theme2.xml"/>
  <Relationship Id="rId2" Type="http://schemas.openxmlformats.org/officeDocument/2006/relationships/viewProps" Target="viewProps.xml"/>
  <Relationship Id="rId3" Type="http://schemas.openxmlformats.org/officeDocument/2006/relationships/presProps" Target="presProps.xml"/>
  <Relationship Id="rId4" Type="http://schemas.openxmlformats.org/officeDocument/2006/relationships/slideMaster" Target="slideMasters/slideMaster1.xml"/>
  <Relationship Id="rId5" Type="http://schemas.openxmlformats.org/officeDocument/2006/relationships/notesMaster" Target="notesMasters/notesMaster1.xml"/>
  <Relationship Id="rId6" Type="http://schemas.openxmlformats.org/officeDocument/2006/relationships/slide" Target="slides/slide1.xml"/>
  <Relationship Id="rId7" Type="http://schemas.openxmlformats.org/officeDocument/2006/relationships/slide" Target="slides/slide2.xml"/>
  <Relationship Id="rId8" Type="http://schemas.openxmlformats.org/officeDocument/2006/relationships/slide" Target="slides/slide3.xml"/>
  <Relationship Id="rId9" Type="http://schemas.openxmlformats.org/officeDocument/2006/relationships/slide" Target="slides/slide4.xml"/>
  <Relationship Id="rId10" Type="http://schemas.openxmlformats.org/officeDocument/2006/relationships/slide" Target="slides/slide5.xml"/>
  <Relationship Id="rId11" Type="http://schemas.openxmlformats.org/officeDocument/2006/relationships/slide" Target="slides/slide6.xml"/>
</Relationships>
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1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2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3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8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0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11" Type="http://schemas.openxmlformats.org/officeDocument/2006/relationships/slideLayout" Target="../slideLayouts/slideLayout11.xml"/>
  <Relationship Id="rId10" Type="http://schemas.openxmlformats.org/officeDocument/2006/relationships/slideLayout" Target="../slideLayouts/slideLayout10.xml"/>
  <Relationship Id="rId12" Type="http://schemas.openxmlformats.org/officeDocument/2006/relationships/theme" Target="../theme/theme2.xml"/>
  <Relationship Id="rId9" Type="http://schemas.openxmlformats.org/officeDocument/2006/relationships/slideLayout" Target="../slideLayouts/slideLayout9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  <Relationship Id="rId3" Type="http://schemas.openxmlformats.org/officeDocument/2006/relationships/image" Target="../media/image2.png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notesSlide" Target="../notesSlides/notesSlide2.xml"/>
  <Relationship Id="rId3" Type="http://schemas.openxmlformats.org/officeDocument/2006/relationships/image" Target="../media/image1.jpg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  <Relationship Id="rId3" Type="http://schemas.openxmlformats.org/officeDocument/2006/relationships/image" Target="../media/image2.png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3.xml"/>
  <Relationship Id="rId3" Type="http://schemas.openxmlformats.org/officeDocument/2006/relationships/image" Target="../media/image1.jpg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3.xml"/>
  <Relationship Id="rId3" Type="http://schemas.openxmlformats.org/officeDocument/2006/relationships/image" Target="../media/image1.jpg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3.xml"/>
  <Relationship Id="rId3" Type="http://schemas.openxmlformats.org/officeDocument/2006/relationships/image" Target="../media/image1.jpg"/>
</Relationships>
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Simple Voting System (C++)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Parth Sarova | B.Tech CSE 2025–29 | C++ Semester II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Group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01" name="Title"/>
          <p:cNvSpPr txBox="1"/>
          <p:nvPr/>
        </p:nvSpPr>
        <p:spPr>
          <a:xfrm>
            <a:off x="311700" y="140000"/>
            <a:ext cx="8520600" cy="450000"/>
          </a:xfrm>
          <a:prstGeom prst="rect">
            <a:avLst/>
          </a:prstGeom>
          <a:noFill/>
        </p:spPr>
        <p:txBody>
          <a:bodyPr anchor="ctr" lIns="91425" rIns="91425" tIns="45720" bIns="45720" wrap="square">
            <a:normAutofit/>
          </a:bodyPr>
          <a:lstStyle/>
          <a:p>
            <a:pPr algn="l">
              <a:buNone/>
            </a:pPr>
            <a:r>
              <a:rPr lang="en-GB" sz="2800" b="1">
                <a:solidFill>
                  <a:srgbClr val="A81B50"/>
                </a:solidFill>
              </a:rPr>
              <a:t>Mind Map</a:t>
            </a:r>
          </a:p>
        </p:txBody>
      </p:sp>
      <!-- CENTER NODE -->
      <p:sp>
        <p:nvSpPr>
          <p:cNvPr id="202" name="Center"/>
          <p:cNvSpPr txBox="0"/>
          <p:nvPr/>
        </p:nvSpPr>
        <p:spPr>
          <a:xfrm>
            <a:off x="3672000" y="2000000"/>
            <a:ext cx="1800000" cy="900000"/>
          </a:xfrm>
          <a:prstGeom prst="ellipse">
            <a:avLst/>
          </a:prstGeom>
          <a:solidFill>
            <a:srgbClr val="A81B50"/>
          </a:solidFill>
          <a:ln w="0">
            <a:noFill/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100" b="1">
                <a:solidFill>
                  <a:srgbClr val="FFFFFF"/>
                </a:solidFill>
              </a:rPr>
              <a:t>Simple</a:t>
            </a:r>
          </a:p>
          <a:p>
            <a:pPr algn="ctr">
              <a:buNone/>
            </a:pPr>
            <a:r>
              <a:rPr lang="en-GB" sz="1100" b="1">
                <a:solidFill>
                  <a:srgbClr val="FFFFFF"/>
                </a:solidFill>
              </a:rPr>
              <a:t>Voting</a:t>
            </a:r>
          </a:p>
          <a:p>
            <a:pPr algn="ctr">
              <a:buNone/>
            </a:pPr>
            <a:r>
              <a:rPr lang="en-GB" sz="1100" b="1">
                <a:solidFill>
                  <a:srgbClr val="FFFFFF"/>
                </a:solidFill>
              </a:rPr>
              <a:t>System</a:t>
            </a:r>
          </a:p>
        </p:txBody>
      </p:sp>
      <!-- TOP LEFT: Problem Statement -->
      <p:sp>
        <p:nvSpPr>
          <p:cNvPr id="211" name="Branch1"/>
          <p:cNvSpPr txBox="0"/>
          <p:nvPr/>
        </p:nvSpPr>
        <p:spPr>
          <a:xfrm>
            <a:off x="800000" y="820000"/>
            <a:ext cx="1600000" cy="580000"/>
          </a:xfrm>
          <a:prstGeom prst="roundRect">
            <a:avLst>
              <a:gd name="adj" fmla="val 25000"/>
            </a:avLst>
          </a:prstGeom>
          <a:solidFill>
            <a:srgbClr val="F5D0DC"/>
          </a:solidFill>
          <a:ln w="22000">
            <a:solidFill>
              <a:srgbClr val="A81B50"/>
            </a:solidFill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000" b="1">
                <a:solidFill>
                  <a:srgbClr val="A81B50"/>
                </a:solidFill>
              </a:rPr>
              <a:t>Problem Statement</a:t>
            </a:r>
          </a:p>
          <a:p>
            <a:pPr algn="ctr">
              <a:buNone/>
            </a:pPr>
            <a:r>
              <a:rPr lang="en-GB" sz="850">
                <a:solidFill>
                  <a:srgbClr val="4D0D22"/>
                </a:solidFill>
              </a:rPr>
              <a:t>Voting Logic | C++ Arrays</a:t>
            </a:r>
          </a:p>
        </p:txBody>
      </p:sp>
      <!-- TOP RIGHT: Input Handling -->
      <p:sp>
        <p:nvSpPr>
          <p:cNvPr id="221" name="Branch2"/>
          <p:cNvSpPr txBox="0"/>
          <p:nvPr/>
        </p:nvSpPr>
        <p:spPr>
          <a:xfrm>
            <a:off x="5744000" y="820000"/>
            <a:ext cx="1600000" cy="580000"/>
          </a:xfrm>
          <a:prstGeom prst="roundRect">
            <a:avLst>
              <a:gd name="adj" fmla="val 25000"/>
            </a:avLst>
          </a:prstGeom>
          <a:solidFill>
            <a:srgbClr val="F5D0DC"/>
          </a:solidFill>
          <a:ln w="22000">
            <a:solidFill>
              <a:srgbClr val="A81B50"/>
            </a:solidFill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000" b="1">
                <a:solidFill>
                  <a:srgbClr val="A81B50"/>
                </a:solidFill>
              </a:rPr>
              <a:t>Input Handling</a:t>
            </a:r>
          </a:p>
          <a:p>
            <a:pPr algn="ctr">
              <a:buNone/>
            </a:pPr>
            <a:r>
              <a:rPr lang="en-GB" sz="850">
                <a:solidFill>
                  <a:srgbClr val="4D0D22"/>
                </a:solidFill>
              </a:rPr>
              <a:t>Multi-User | Validation</a:t>
            </a:r>
          </a:p>
        </p:txBody>
      </p:sp>
      <!-- LEFT: Data Storage -->
      <p:sp>
        <p:nvSpPr>
          <p:cNvPr id="231" name="Branch3"/>
          <p:cNvSpPr txBox="0"/>
          <p:nvPr/>
        </p:nvSpPr>
        <p:spPr>
          <a:xfrm>
            <a:off x="228600" y="2100000"/>
            <a:ext cx="1700000" cy="580000"/>
          </a:xfrm>
          <a:prstGeom prst="roundRect">
            <a:avLst>
              <a:gd name="adj" fmla="val 25000"/>
            </a:avLst>
          </a:prstGeom>
          <a:solidFill>
            <a:srgbClr val="F5D0DC"/>
          </a:solidFill>
          <a:ln w="22000">
            <a:solidFill>
              <a:srgbClr val="A81B50"/>
            </a:solidFill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000" b="1">
                <a:solidFill>
                  <a:srgbClr val="A81B50"/>
                </a:solidFill>
              </a:rPr>
              <a:t>Data Storage</a:t>
            </a:r>
          </a:p>
          <a:p>
            <a:pPr algn="ctr">
              <a:buNone/>
            </a:pPr>
            <a:r>
              <a:rPr lang="en-GB" sz="850">
                <a:solidFill>
                  <a:srgbClr val="4D0D22"/>
                </a:solidFill>
              </a:rPr>
              <a:t>Arrays &amp; Variables</a:t>
            </a:r>
          </a:p>
        </p:txBody>
      </p:sp>
      <!-- RIGHT: Vote Counting -->
      <p:sp>
        <p:nvSpPr>
          <p:cNvPr id="241" name="Branch4"/>
          <p:cNvSpPr txBox="0"/>
          <p:nvPr/>
        </p:nvSpPr>
        <p:spPr>
          <a:xfrm>
            <a:off x="7215400" y="2100000"/>
            <a:ext cx="1700000" cy="580000"/>
          </a:xfrm>
          <a:prstGeom prst="roundRect">
            <a:avLst>
              <a:gd name="adj" fmla="val 25000"/>
            </a:avLst>
          </a:prstGeom>
          <a:solidFill>
            <a:srgbClr val="F5D0DC"/>
          </a:solidFill>
          <a:ln w="22000">
            <a:solidFill>
              <a:srgbClr val="A81B50"/>
            </a:solidFill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000" b="1">
                <a:solidFill>
                  <a:srgbClr val="A81B50"/>
                </a:solidFill>
              </a:rPr>
              <a:t>Vote Counting</a:t>
            </a:r>
          </a:p>
          <a:p>
            <a:pPr algn="ctr">
              <a:buNone/>
            </a:pPr>
            <a:r>
              <a:rPr lang="en-GB" sz="850">
                <a:solidFill>
                  <a:srgbClr val="4D0D22"/>
                </a:solidFill>
              </a:rPr>
              <a:t>Loops &amp; Tallying</a:t>
            </a:r>
          </a:p>
        </p:txBody>
      </p:sp>
      <!-- BOTTOM LEFT: Result Display -->
      <p:sp>
        <p:nvSpPr>
          <p:cNvPr id="251" name="Branch5"/>
          <p:cNvSpPr txBox="0"/>
          <p:nvPr/>
        </p:nvSpPr>
        <p:spPr>
          <a:xfrm>
            <a:off x="800000" y="3480000"/>
            <a:ext cx="1600000" cy="580000"/>
          </a:xfrm>
          <a:prstGeom prst="roundRect">
            <a:avLst>
              <a:gd name="adj" fmla="val 25000"/>
            </a:avLst>
          </a:prstGeom>
          <a:solidFill>
            <a:srgbClr val="F5D0DC"/>
          </a:solidFill>
          <a:ln w="22000">
            <a:solidFill>
              <a:srgbClr val="A81B50"/>
            </a:solidFill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000" b="1">
                <a:solidFill>
                  <a:srgbClr val="A81B50"/>
                </a:solidFill>
              </a:rPr>
              <a:t>Result Display</a:t>
            </a:r>
          </a:p>
          <a:p>
            <a:pPr algn="ctr">
              <a:buNone/>
            </a:pPr>
            <a:r>
              <a:rPr lang="en-GB" sz="850">
                <a:solidFill>
                  <a:srgbClr val="4D0D22"/>
                </a:solidFill>
              </a:rPr>
              <a:t>Vote Count | Output</a:t>
            </a:r>
          </a:p>
        </p:txBody>
      </p:sp>
      <!-- BOTTOM RIGHT: Winner Logic -->
      <p:sp>
        <p:nvSpPr>
          <p:cNvPr id="261" name="Branch6"/>
          <p:cNvSpPr txBox="0"/>
          <p:nvPr/>
        </p:nvSpPr>
        <p:spPr>
          <a:xfrm>
            <a:off x="5744000" y="3480000"/>
            <a:ext cx="1600000" cy="580000"/>
          </a:xfrm>
          <a:prstGeom prst="roundRect">
            <a:avLst>
              <a:gd name="adj" fmla="val 25000"/>
            </a:avLst>
          </a:prstGeom>
          <a:solidFill>
            <a:srgbClr val="F5D0DC"/>
          </a:solidFill>
          <a:ln w="22000">
            <a:solidFill>
              <a:srgbClr val="A81B50"/>
            </a:solidFill>
          </a:ln>
        </p:spPr>
        <p:txBody>
          <a:bodyPr anchor="ctr" lIns="91425" rIns="91425" tIns="45720" bIns="45720" wrap="square">
            <a:normAutofit/>
          </a:bodyPr>
          <a:lstStyle/>
          <a:p>
            <a:pPr algn="ctr">
              <a:buNone/>
            </a:pPr>
            <a:r>
              <a:rPr lang="en-GB" sz="1000" b="1">
                <a:solidFill>
                  <a:srgbClr val="A81B50"/>
                </a:solidFill>
              </a:rPr>
              <a:t>Winner Logic</a:t>
            </a:r>
          </a:p>
          <a:p>
            <a:pPr algn="ctr">
              <a:buNone/>
            </a:pPr>
            <a:r>
              <a:rPr lang="en-GB" sz="850">
                <a:solidFill>
                  <a:srgbClr val="4D0D22"/>
                </a:solidFill>
              </a:rPr>
              <a:t>Max Votes | Declare Win</a:t>
            </a:r>
          </a:p>
        </p:txBody>
      </p:sp>
      <!-- CONNECTOR LINES (drawn as thin rectangles for compatibility) -->
      <!-- Line: Center to Top-Left branch -->
      <p:sp>
        <p:nvSpPr>
          <p:cNvPr id="301" name="L1"/>
          <p:cNvSpPr txBox="0"/>
          <p:nvPr/>
        </p:nvSpPr>
        <p:spPr>
          <a:xfrm rot="-2880000">
            <a:off x="2300000" y="1270000"/>
            <a:ext cx="1600000" cy="60000"/>
          </a:xfrm>
          <a:prstGeom prst="rect">
            <a:avLst/>
          </a:prstGeom>
          <a:solidFill>
            <a:srgbClr val="A81B5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!-- Line: Center to Top-Right branch -->
      <p:sp>
        <p:nvSpPr>
          <p:cNvPr id="302" name="L2"/>
          <p:cNvSpPr txBox="0"/>
          <p:nvPr/>
        </p:nvSpPr>
        <p:spPr>
          <a:xfrm rot="2880000">
            <a:off x="5244000" y="1270000"/>
            <a:ext cx="1600000" cy="60000"/>
          </a:xfrm>
          <a:prstGeom prst="rect">
            <a:avLst/>
          </a:prstGeom>
          <a:solidFill>
            <a:srgbClr val="A81B5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!-- Line: Center to Left -->
      <p:sp>
        <p:nvSpPr>
          <p:cNvPr id="303" name="L3"/>
          <p:cNvSpPr txBox="0"/>
          <p:nvPr/>
        </p:nvSpPr>
        <p:spPr>
          <a:xfrm>
            <a:off x="1928600" y="2420000"/>
            <a:ext cx="1743400" cy="60000"/>
          </a:xfrm>
          <a:prstGeom prst="rect">
            <a:avLst/>
          </a:prstGeom>
          <a:solidFill>
            <a:srgbClr val="A81B5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!-- Line: Center to Right -->
      <p:sp>
        <p:nvSpPr>
          <p:cNvPr id="304" name="L4"/>
          <p:cNvSpPr txBox="0"/>
          <p:nvPr/>
        </p:nvSpPr>
        <p:spPr>
          <a:xfrm>
            <a:off x="5472000" y="2420000"/>
            <a:ext cx="1743400" cy="60000"/>
          </a:xfrm>
          <a:prstGeom prst="rect">
            <a:avLst/>
          </a:prstGeom>
          <a:solidFill>
            <a:srgbClr val="A81B5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!-- Line: Center to Bottom-Left -->
      <p:sp>
        <p:nvSpPr>
          <p:cNvPr id="305" name="L5"/>
          <p:cNvSpPr txBox="0"/>
          <p:nvPr/>
        </p:nvSpPr>
        <p:spPr>
          <a:xfrm rot="2880000">
            <a:off x="2300000" y="2950000"/>
            <a:ext cx="1600000" cy="60000"/>
          </a:xfrm>
          <a:prstGeom prst="rect">
            <a:avLst/>
          </a:prstGeom>
          <a:solidFill>
            <a:srgbClr val="A81B5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!-- Line: Center to Bottom-Right -->
      <p:sp>
        <p:nvSpPr>
          <p:cNvPr id="306" name="L6"/>
          <p:cNvSpPr txBox="0"/>
          <p:nvPr/>
        </p:nvSpPr>
        <p:spPr>
          <a:xfrm rot="-2880000">
            <a:off x="5244000" y="2950000"/>
            <a:ext cx="1600000" cy="60000"/>
          </a:xfrm>
          <a:prstGeom prst="rect">
            <a:avLst/>
          </a:prstGeom>
          <a:solidFill>
            <a:srgbClr val="A81B50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chemeClr val="lt1"/>
                </a:solidFill>
              </a:rPr>
              <a:t>Parth Sarova | C++ Semester II | ITM Skills University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System Objective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Develop a Simple Voting System using C++ to simulate real-world election processes and understand fundamental programming concepts.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Core Requirements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Allow users to vote for a fixed set of candidates. Record each vote securely. Count votes accurately. Display final results clearly.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Learning Outcome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Helps students understand voting logic implementation using programming concepts and data structures.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Proposed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Data Storage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Use arrays to store candidate names and count votes efficiently.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Input Handling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Accept votes from multiple users through systematic input collection.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Validation &amp; Result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Use conditional statements to validate input, compare vote counts to determine the winner, and display results with clear formatting.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System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Demonstrates basic voting system logic using arrays for storing and counting votes effectively.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Programming Concepts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Implements conditional comparison to find winner and shows practical use of loops and user input handling in C++.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Educational 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Helps students understand fundamental C++ programming concepts through practical implementation of a real-world system.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